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047d737abdbd126e" providerId="LiveId" clId="{75FDC314-F589-4A11-9995-91EB01FDB967}"/>
    <pc:docChg chg="modSld">
      <pc:chgData name="" userId="047d737abdbd126e" providerId="LiveId" clId="{75FDC314-F589-4A11-9995-91EB01FDB967}" dt="2026-09-23T06:56:54.897" v="58" actId="20577"/>
      <pc:docMkLst>
        <pc:docMk/>
      </pc:docMkLst>
      <pc:sldChg chg="modSp">
        <pc:chgData name="" userId="047d737abdbd126e" providerId="LiveId" clId="{75FDC314-F589-4A11-9995-91EB01FDB967}" dt="2026-09-23T06:56:54.897" v="58" actId="20577"/>
        <pc:sldMkLst>
          <pc:docMk/>
          <pc:sldMk cId="0" sldId="266"/>
        </pc:sldMkLst>
        <pc:spChg chg="mod">
          <ac:chgData name="" userId="047d737abdbd126e" providerId="LiveId" clId="{75FDC314-F589-4A11-9995-91EB01FDB967}" dt="2026-09-23T06:56:03.790" v="13" actId="20577"/>
          <ac:spMkLst>
            <pc:docMk/>
            <pc:sldMk cId="0" sldId="266"/>
            <ac:spMk id="6" creationId="{00000000-0000-0000-0000-000000000000}"/>
          </ac:spMkLst>
        </pc:spChg>
        <pc:spChg chg="mod">
          <ac:chgData name="" userId="047d737abdbd126e" providerId="LiveId" clId="{75FDC314-F589-4A11-9995-91EB01FDB967}" dt="2026-09-23T06:56:54.897" v="58" actId="20577"/>
          <ac:spMkLst>
            <pc:docMk/>
            <pc:sldMk cId="0" sldId="266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C24C12-699F-42CD-A3C5-94B762B82A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4036E2-3D6E-4771-9805-F8B8967A9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69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4036E2-3D6E-4771-9805-F8B8967A906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33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4036E2-3D6E-4771-9805-F8B8967A906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718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i-tutor-ei2dq9mh7glq4eekux2ngf.streamlit.app/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neha4-web/AI-Tutor.gi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743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dirty="0"/>
              <a:t> 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822960" y="378789"/>
            <a:ext cx="6583680" cy="130805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lang="en-US" sz="4000" b="1" dirty="0">
                <a:solidFill>
                  <a:srgbClr val="1E1F37"/>
                </a:solidFill>
                <a:latin typeface="Arial"/>
              </a:rPr>
              <a:t>BRAINBYTE</a:t>
            </a:r>
            <a:r>
              <a:rPr lang="en-US" sz="4000" b="1" dirty="0">
                <a:solidFill>
                  <a:schemeClr val="accent6">
                    <a:lumMod val="75000"/>
                  </a:schemeClr>
                </a:solidFill>
                <a:latin typeface="Arial"/>
              </a:rPr>
              <a:t>🧠</a:t>
            </a:r>
          </a:p>
          <a:p>
            <a:pPr algn="l"/>
            <a:r>
              <a:rPr sz="4000" dirty="0">
                <a:solidFill>
                  <a:srgbClr val="1E1F37"/>
                </a:solidFill>
                <a:latin typeface="Arial"/>
              </a:rPr>
              <a:t>Personal AI Tutor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47088"/>
            <a:ext cx="6766560" cy="384048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2100" b="0" dirty="0">
                <a:solidFill>
                  <a:srgbClr val="5C5C5C"/>
                </a:solidFill>
                <a:latin typeface="Arial"/>
              </a:rPr>
              <a:t>An AI-powered learning assistant for students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2450592"/>
            <a:ext cx="4645152" cy="0"/>
          </a:xfrm>
          <a:prstGeom prst="line">
            <a:avLst/>
          </a:prstGeom>
          <a:ln w="38100">
            <a:solidFill>
              <a:srgbClr val="F2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2743200"/>
            <a:ext cx="676656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700" b="1">
                <a:solidFill>
                  <a:srgbClr val="2F68A0"/>
                </a:solidFill>
                <a:latin typeface="Arial"/>
              </a:rPr>
              <a:t>Learn Smarter • Practice Better • Improve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251960"/>
            <a:ext cx="38404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400" b="1">
                <a:solidFill>
                  <a:srgbClr val="1E1F37"/>
                </a:solidFill>
                <a:latin typeface="Arial"/>
              </a:rPr>
              <a:t>Presented by: Sneha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522598"/>
            <a:ext cx="2743200" cy="446276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200" b="0" dirty="0">
                <a:solidFill>
                  <a:srgbClr val="5C5C5C"/>
                </a:solidFill>
                <a:latin typeface="Arial"/>
              </a:rPr>
              <a:t>Team Leader</a:t>
            </a:r>
            <a:endParaRPr lang="en-US" sz="1200" b="0" dirty="0">
              <a:solidFill>
                <a:srgbClr val="5C5C5C"/>
              </a:solidFill>
              <a:latin typeface="Arial"/>
            </a:endParaRPr>
          </a:p>
          <a:p>
            <a:pPr algn="l"/>
            <a:r>
              <a:rPr lang="en-US" sz="1200" dirty="0">
                <a:solidFill>
                  <a:srgbClr val="5C5C5C"/>
                </a:solidFill>
                <a:latin typeface="Arial"/>
              </a:rPr>
              <a:t>Roll No. 25267531</a:t>
            </a:r>
            <a:endParaRPr sz="1200" b="0" dirty="0">
              <a:solidFill>
                <a:srgbClr val="5C5C5C"/>
              </a:solidFill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818120" y="1325880"/>
            <a:ext cx="3246120" cy="4160520"/>
          </a:xfrm>
          <a:prstGeom prst="roundRect">
            <a:avLst/>
          </a:prstGeom>
          <a:solidFill>
            <a:srgbClr val="F4F6FA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15400" y="1828800"/>
            <a:ext cx="1005840" cy="6400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3800" b="0">
                <a:solidFill>
                  <a:srgbClr val="2F68A0"/>
                </a:solidFill>
                <a:latin typeface="Arial"/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633472"/>
            <a:ext cx="2103120" cy="36576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2300" b="1">
                <a:solidFill>
                  <a:srgbClr val="1E1F37"/>
                </a:solidFill>
                <a:latin typeface="Arial"/>
              </a:rPr>
              <a:t>AI Tutor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401568"/>
            <a:ext cx="2423160" cy="384048"/>
          </a:xfrm>
          <a:prstGeom prst="roundRect">
            <a:avLst/>
          </a:prstGeom>
          <a:solidFill>
            <a:srgbClr val="F2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3429000"/>
            <a:ext cx="233172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Quiz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005072"/>
            <a:ext cx="2423160" cy="384048"/>
          </a:xfrm>
          <a:prstGeom prst="round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4032504"/>
            <a:ext cx="233172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Progress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608576"/>
            <a:ext cx="2423160" cy="384048"/>
          </a:xfrm>
          <a:prstGeom prst="roundRect">
            <a:avLst/>
          </a:prstGeom>
          <a:solidFill>
            <a:srgbClr val="37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4636008"/>
            <a:ext cx="233172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AI Recommendation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32004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r"/>
            <a:r>
              <a:rPr sz="800" b="0">
                <a:solidFill>
                  <a:srgbClr val="5C5C5C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4114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200" b="1">
                <a:solidFill>
                  <a:srgbClr val="F25F14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9966960" cy="43891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2600" b="1">
                <a:solidFill>
                  <a:srgbClr val="1E1F37"/>
                </a:solidFill>
                <a:latin typeface="Arial"/>
              </a:rPr>
              <a:t>The Problem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932688"/>
            <a:ext cx="10844784" cy="0"/>
          </a:xfrm>
          <a:prstGeom prst="line">
            <a:avLst/>
          </a:prstGeom>
          <a:ln w="25400">
            <a:solidFill>
              <a:srgbClr val="F2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261872"/>
            <a:ext cx="9875520" cy="384048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2200" b="1">
                <a:solidFill>
                  <a:srgbClr val="1E1F37"/>
                </a:solidFill>
                <a:latin typeface="Arial"/>
              </a:rPr>
              <a:t>Students often face three problems while learning: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3383280" cy="224028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64008" cy="2240280"/>
          </a:xfrm>
          <a:prstGeom prst="rect">
            <a:avLst/>
          </a:prstGeom>
          <a:solidFill>
            <a:srgbClr val="F2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167128"/>
            <a:ext cx="292608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Choosing what to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2926080" cy="1417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50" b="0">
                <a:solidFill>
                  <a:srgbClr val="5C5C5C"/>
                </a:solidFill>
                <a:latin typeface="Arial"/>
              </a:rPr>
              <a:t>After a quiz, students may not know which topic should come next.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965960"/>
            <a:ext cx="3383280" cy="224028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8" y="1965960"/>
            <a:ext cx="64008" cy="2240280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8" y="2167128"/>
            <a:ext cx="292608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Tracking 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651760"/>
            <a:ext cx="2926080" cy="1417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Weak and strong areas are not always easy to identify.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7575" y="1965960"/>
            <a:ext cx="3383280" cy="224028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37575" y="1965960"/>
            <a:ext cx="64008" cy="2240280"/>
          </a:xfrm>
          <a:prstGeom prst="rect">
            <a:avLst/>
          </a:prstGeom>
          <a:solidFill>
            <a:srgbClr val="37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6175" y="2167128"/>
            <a:ext cx="292608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Personal guidance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2651760"/>
            <a:ext cx="2926080" cy="1417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50" b="0">
                <a:solidFill>
                  <a:srgbClr val="5C5C5C"/>
                </a:solidFill>
                <a:latin typeface="Arial"/>
              </a:rPr>
              <a:t>A general study path may not match a student's current performance.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46320"/>
            <a:ext cx="1828800" cy="25603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300" b="1">
                <a:solidFill>
                  <a:srgbClr val="F25F14"/>
                </a:solidFill>
                <a:latin typeface="Arial"/>
              </a:rPr>
              <a:t>Problem statement: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230368"/>
            <a:ext cx="10241280" cy="438912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050" b="1">
                <a:solidFill>
                  <a:srgbClr val="1E1F37"/>
                </a:solidFill>
                <a:latin typeface="Arial"/>
              </a:rPr>
              <a:t>Students need a simple tool that connects quiz performance with their next learning step.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800" b="1">
                <a:solidFill>
                  <a:srgbClr val="5C5C5C"/>
                </a:solidFill>
                <a:latin typeface="Arial"/>
              </a:rPr>
              <a:t>PERSONAL AI TUTOR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73952"/>
            <a:ext cx="32004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r"/>
            <a:r>
              <a:rPr sz="800" b="0">
                <a:solidFill>
                  <a:srgbClr val="5C5C5C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4114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200" b="1">
                <a:solidFill>
                  <a:srgbClr val="F25F14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9966960" cy="43891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2600" b="1">
                <a:solidFill>
                  <a:srgbClr val="1E1F37"/>
                </a:solidFill>
                <a:latin typeface="Arial"/>
              </a:rPr>
              <a:t>The Solution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932688"/>
            <a:ext cx="10844784" cy="0"/>
          </a:xfrm>
          <a:prstGeom prst="line">
            <a:avLst/>
          </a:prstGeom>
          <a:ln w="25400">
            <a:solidFill>
              <a:srgbClr val="F2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234440"/>
            <a:ext cx="9875520" cy="384048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50" b="1">
                <a:solidFill>
                  <a:srgbClr val="1E1F37"/>
                </a:solidFill>
                <a:latin typeface="Arial"/>
              </a:rPr>
              <a:t>Personal AI Tutor brings the learning process into one place.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2468880" cy="242316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64008" cy="2423160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121408"/>
            <a:ext cx="201168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06040"/>
            <a:ext cx="2011680" cy="160020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Select a subject, topic and difficulty level.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920240"/>
            <a:ext cx="2468880" cy="242316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56432" y="1920240"/>
            <a:ext cx="64008" cy="2423160"/>
          </a:xfrm>
          <a:prstGeom prst="rect">
            <a:avLst/>
          </a:prstGeom>
          <a:solidFill>
            <a:srgbClr val="F2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85031" y="2121408"/>
            <a:ext cx="201168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1" y="2606040"/>
            <a:ext cx="2011680" cy="160020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Take quizzes and check performance.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1920240"/>
            <a:ext cx="2468880" cy="242316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35624" y="1920240"/>
            <a:ext cx="64008" cy="2423160"/>
          </a:xfrm>
          <a:prstGeom prst="rect">
            <a:avLst/>
          </a:prstGeom>
          <a:solidFill>
            <a:srgbClr val="37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64224" y="2121408"/>
            <a:ext cx="201168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Track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606040"/>
            <a:ext cx="2011680" cy="160020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View quiz scores and topic progress.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14816" y="1920240"/>
            <a:ext cx="2468880" cy="242316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14816" y="1920240"/>
            <a:ext cx="64008" cy="2423160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43416" y="2121408"/>
            <a:ext cx="201168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Improve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3416" y="2606040"/>
            <a:ext cx="2011680" cy="160020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Get an AI recommendation for the next topic.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46320"/>
            <a:ext cx="1828800" cy="25603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300" b="1">
                <a:solidFill>
                  <a:srgbClr val="F25F14"/>
                </a:solidFill>
                <a:latin typeface="Arial"/>
              </a:rPr>
              <a:t>Learning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12080"/>
            <a:ext cx="7498079" cy="4114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2300" b="1">
                <a:solidFill>
                  <a:srgbClr val="1E1F37"/>
                </a:solidFill>
                <a:latin typeface="Arial"/>
              </a:rPr>
              <a:t>Learn  →  Practice  →  Track  →  Improve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800" b="1">
                <a:solidFill>
                  <a:srgbClr val="5C5C5C"/>
                </a:solidFill>
                <a:latin typeface="Arial"/>
              </a:rPr>
              <a:t>PERSONAL AI TUTOR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32004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r"/>
            <a:r>
              <a:rPr sz="800" b="0">
                <a:solidFill>
                  <a:srgbClr val="5C5C5C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4114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200" b="1">
                <a:solidFill>
                  <a:srgbClr val="F25F14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9966960" cy="43891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2600" b="1">
                <a:solidFill>
                  <a:srgbClr val="1E1F37"/>
                </a:solidFill>
                <a:latin typeface="Arial"/>
              </a:rPr>
              <a:t>Technology Stack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932688"/>
            <a:ext cx="10844784" cy="0"/>
          </a:xfrm>
          <a:prstGeom prst="line">
            <a:avLst/>
          </a:prstGeom>
          <a:ln w="25400">
            <a:solidFill>
              <a:srgbClr val="F2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325880"/>
            <a:ext cx="5074920" cy="932688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64008" cy="932688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527048"/>
            <a:ext cx="461772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617720" cy="109728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Main programming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325880"/>
            <a:ext cx="5074920" cy="932688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59" y="1325880"/>
            <a:ext cx="64008" cy="932688"/>
          </a:xfrm>
          <a:prstGeom prst="rect">
            <a:avLst/>
          </a:prstGeom>
          <a:solidFill>
            <a:srgbClr val="F2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59" y="1527048"/>
            <a:ext cx="461772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Streamlit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011680"/>
            <a:ext cx="4617720" cy="109728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Web application and interface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560320"/>
            <a:ext cx="5074920" cy="932688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2560320"/>
            <a:ext cx="64008" cy="932688"/>
          </a:xfrm>
          <a:prstGeom prst="rect">
            <a:avLst/>
          </a:prstGeom>
          <a:solidFill>
            <a:srgbClr val="37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2761488"/>
            <a:ext cx="461772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Pandas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246120"/>
            <a:ext cx="4617720" cy="109728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Progress data handling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2560320"/>
            <a:ext cx="5074920" cy="932688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59" y="2560320"/>
            <a:ext cx="64008" cy="932688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59" y="2761488"/>
            <a:ext cx="461772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3246120"/>
            <a:ext cx="4617720" cy="109728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Stores quiz progress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94760"/>
            <a:ext cx="5074920" cy="932688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" y="3794760"/>
            <a:ext cx="64008" cy="932688"/>
          </a:xfrm>
          <a:prstGeom prst="rect">
            <a:avLst/>
          </a:prstGeom>
          <a:solidFill>
            <a:srgbClr val="F2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3995928"/>
            <a:ext cx="461772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OpenAI Python Client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480560"/>
            <a:ext cx="4617720" cy="109728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Connects the application to the AI endpoint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3794760"/>
            <a:ext cx="5074920" cy="932688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59" y="3794760"/>
            <a:ext cx="64008" cy="932688"/>
          </a:xfrm>
          <a:prstGeom prst="rect">
            <a:avLst/>
          </a:prstGeom>
          <a:solidFill>
            <a:srgbClr val="37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59" y="3995928"/>
            <a:ext cx="461772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Groq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4480560"/>
            <a:ext cx="4617720" cy="109728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LLM inference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800" b="1">
                <a:solidFill>
                  <a:srgbClr val="5C5C5C"/>
                </a:solidFill>
                <a:latin typeface="Arial"/>
              </a:rPr>
              <a:t>PERSONAL AI TUTOR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473952"/>
            <a:ext cx="32004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r"/>
            <a:r>
              <a:rPr sz="800" b="0">
                <a:solidFill>
                  <a:srgbClr val="5C5C5C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4114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200" b="1">
                <a:solidFill>
                  <a:srgbClr val="F25F14"/>
                </a:solidFill>
                <a:latin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9966960" cy="43891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2600" b="1">
                <a:solidFill>
                  <a:srgbClr val="1E1F37"/>
                </a:solidFill>
                <a:latin typeface="Arial"/>
              </a:rPr>
              <a:t>System Architecture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932688"/>
            <a:ext cx="10844784" cy="0"/>
          </a:xfrm>
          <a:prstGeom prst="line">
            <a:avLst/>
          </a:prstGeom>
          <a:ln w="25400">
            <a:solidFill>
              <a:srgbClr val="F2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234440"/>
            <a:ext cx="10241280" cy="36576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50" b="1">
                <a:solidFill>
                  <a:srgbClr val="1E1F37"/>
                </a:solidFill>
                <a:latin typeface="Arial"/>
              </a:rPr>
              <a:t>A simple flow connects the student, application, data and 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2057400" cy="1417320"/>
          </a:xfrm>
          <a:prstGeom prst="roundRect">
            <a:avLst/>
          </a:prstGeom>
          <a:solidFill>
            <a:srgbClr val="F8F8F7"/>
          </a:solidFill>
          <a:ln w="22860">
            <a:solidFill>
              <a:srgbClr val="2F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17830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1500" b="1">
                <a:solidFill>
                  <a:srgbClr val="1E1F37"/>
                </a:solidFill>
                <a:latin typeface="Arial"/>
              </a:rPr>
              <a:t>Student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06624"/>
            <a:ext cx="1783080" cy="5029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1000" b="0">
                <a:solidFill>
                  <a:srgbClr val="5C5C5C"/>
                </a:solidFill>
                <a:latin typeface="Arial"/>
              </a:rPr>
              <a:t>Chooses topic
and takes quiz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057400"/>
            <a:ext cx="2057400" cy="1417320"/>
          </a:xfrm>
          <a:prstGeom prst="roundRect">
            <a:avLst/>
          </a:prstGeom>
          <a:solidFill>
            <a:srgbClr val="F8F8F7"/>
          </a:solidFill>
          <a:ln w="22860">
            <a:solidFill>
              <a:srgbClr val="F25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40" y="2240280"/>
            <a:ext cx="17830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1500" b="1">
                <a:solidFill>
                  <a:srgbClr val="1E1F37"/>
                </a:solidFill>
                <a:latin typeface="Arial"/>
              </a:rPr>
              <a:t>Streamlit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706624"/>
            <a:ext cx="1783080" cy="5029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1000" b="0">
                <a:solidFill>
                  <a:srgbClr val="5C5C5C"/>
                </a:solidFill>
                <a:latin typeface="Arial"/>
              </a:rPr>
              <a:t>Quiz + Dashboard
+ user inputs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057400"/>
            <a:ext cx="2057400" cy="1417320"/>
          </a:xfrm>
          <a:prstGeom prst="roundRect">
            <a:avLst/>
          </a:prstGeom>
          <a:solidFill>
            <a:srgbClr val="F8F8F7"/>
          </a:solidFill>
          <a:ln w="22860">
            <a:solidFill>
              <a:srgbClr val="378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2240280"/>
            <a:ext cx="17830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1500" b="1">
                <a:solidFill>
                  <a:srgbClr val="1E1F37"/>
                </a:solidFill>
                <a:latin typeface="Arial"/>
              </a:rPr>
              <a:t>Progress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06624"/>
            <a:ext cx="1783080" cy="5029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1000" b="0">
                <a:solidFill>
                  <a:srgbClr val="5C5C5C"/>
                </a:solidFill>
                <a:latin typeface="Arial"/>
              </a:rPr>
              <a:t>Pandas +
progress.csv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2057400"/>
            <a:ext cx="2057400" cy="1417320"/>
          </a:xfrm>
          <a:prstGeom prst="roundRect">
            <a:avLst/>
          </a:prstGeom>
          <a:solidFill>
            <a:srgbClr val="F8F8F7"/>
          </a:solidFill>
          <a:ln w="22860">
            <a:solidFill>
              <a:srgbClr val="2F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0" y="2240280"/>
            <a:ext cx="17830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1500" b="1">
                <a:solidFill>
                  <a:srgbClr val="1E1F37"/>
                </a:solidFill>
                <a:latin typeface="Arial"/>
              </a:rPr>
              <a:t>AI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706624"/>
            <a:ext cx="1783080" cy="5029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1000" b="0">
                <a:solidFill>
                  <a:srgbClr val="5C5C5C"/>
                </a:solidFill>
                <a:latin typeface="Arial"/>
              </a:rPr>
              <a:t>Prompt + LLM
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514600"/>
            <a:ext cx="41148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2400" b="1">
                <a:solidFill>
                  <a:srgbClr val="F25F14"/>
                </a:solidFill>
                <a:latin typeface="Arial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2514600"/>
            <a:ext cx="41148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2400" b="1">
                <a:solidFill>
                  <a:srgbClr val="F25F14"/>
                </a:solidFill>
                <a:latin typeface="Arial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514600"/>
            <a:ext cx="41148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2400" b="1">
                <a:solidFill>
                  <a:srgbClr val="F25F14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160520"/>
            <a:ext cx="2286000" cy="25603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300" b="1">
                <a:solidFill>
                  <a:srgbClr val="F25F14"/>
                </a:solidFill>
                <a:latin typeface="Arial"/>
              </a:rPr>
              <a:t>AI recommendation uses: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26280"/>
            <a:ext cx="9144000" cy="347472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800" b="1">
                <a:solidFill>
                  <a:srgbClr val="1E1F37"/>
                </a:solidFill>
                <a:latin typeface="Arial"/>
              </a:rPr>
              <a:t>Subject + Current Topic + Difficulty + Latest Quiz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919472"/>
            <a:ext cx="45720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800" b="1">
                <a:solidFill>
                  <a:srgbClr val="2F68A0"/>
                </a:solidFill>
                <a:latin typeface="Arial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85232"/>
            <a:ext cx="9601200" cy="36576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700" b="1">
                <a:solidFill>
                  <a:srgbClr val="1E1F37"/>
                </a:solidFill>
                <a:latin typeface="Arial"/>
              </a:rPr>
              <a:t>The AI returns one logical next topic and a short reason.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800" b="1">
                <a:solidFill>
                  <a:srgbClr val="5C5C5C"/>
                </a:solidFill>
                <a:latin typeface="Arial"/>
              </a:rPr>
              <a:t>PERSONAL AI TUTOR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473952"/>
            <a:ext cx="32004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r"/>
            <a:r>
              <a:rPr sz="800" b="0">
                <a:solidFill>
                  <a:srgbClr val="5C5C5C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4114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200" b="1">
                <a:solidFill>
                  <a:srgbClr val="F25F14"/>
                </a:solidFill>
                <a:latin typeface="Arial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9966960" cy="43891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2600" b="1">
                <a:solidFill>
                  <a:srgbClr val="1E1F37"/>
                </a:solidFill>
                <a:latin typeface="Arial"/>
              </a:rPr>
              <a:t>Live Demo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932688"/>
            <a:ext cx="10844784" cy="0"/>
          </a:xfrm>
          <a:prstGeom prst="line">
            <a:avLst/>
          </a:prstGeom>
          <a:ln w="25400">
            <a:solidFill>
              <a:srgbClr val="F2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4108" y="1133857"/>
            <a:ext cx="9601200" cy="415498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2200" b="1" dirty="0">
                <a:solidFill>
                  <a:srgbClr val="1E1F37"/>
                </a:solidFill>
                <a:latin typeface="Arial"/>
              </a:rPr>
              <a:t> </a:t>
            </a:r>
            <a:r>
              <a:rPr lang="en-US" sz="2200" b="1" dirty="0">
                <a:solidFill>
                  <a:srgbClr val="1E1F37"/>
                </a:solidFill>
                <a:latin typeface="Arial"/>
              </a:rPr>
              <a:t>T</a:t>
            </a:r>
            <a:r>
              <a:rPr sz="2200" b="1" dirty="0">
                <a:solidFill>
                  <a:srgbClr val="1E1F37"/>
                </a:solidFill>
                <a:latin typeface="Arial"/>
              </a:rPr>
              <a:t>he actual application running</a:t>
            </a:r>
            <a:r>
              <a:rPr lang="en-US" sz="2200" b="1" dirty="0">
                <a:solidFill>
                  <a:srgbClr val="1E1F37"/>
                </a:solidFill>
                <a:latin typeface="Arial"/>
              </a:rPr>
              <a:t> dashboard</a:t>
            </a:r>
            <a:endParaRPr sz="2200" b="1" dirty="0">
              <a:solidFill>
                <a:srgbClr val="1E1F37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32004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300" b="1">
                <a:solidFill>
                  <a:srgbClr val="F25F14"/>
                </a:solidFill>
                <a:latin typeface="Arial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74519"/>
            <a:ext cx="4297680" cy="292608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400" b="1">
                <a:solidFill>
                  <a:srgbClr val="1E1F37"/>
                </a:solidFill>
                <a:latin typeface="Arial"/>
              </a:rPr>
              <a:t>Open the Personal AI Tutor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7"/>
            <a:ext cx="32004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300" b="1">
                <a:solidFill>
                  <a:srgbClr val="F25F14"/>
                </a:solidFill>
                <a:latin typeface="Arial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532887"/>
            <a:ext cx="4297680" cy="292608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400" b="1">
                <a:solidFill>
                  <a:srgbClr val="1E1F37"/>
                </a:solidFill>
                <a:latin typeface="Arial"/>
              </a:rPr>
              <a:t>Select subject / topic / difficulty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91256"/>
            <a:ext cx="32004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300" b="1">
                <a:solidFill>
                  <a:srgbClr val="F25F14"/>
                </a:solidFill>
                <a:latin typeface="Arial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191256"/>
            <a:ext cx="4297680" cy="292608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400" b="1">
                <a:solidFill>
                  <a:srgbClr val="1E1F37"/>
                </a:solidFill>
                <a:latin typeface="Arial"/>
              </a:rPr>
              <a:t>Complete a quiz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49624"/>
            <a:ext cx="32004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300" b="1">
                <a:solidFill>
                  <a:srgbClr val="F25F14"/>
                </a:solidFill>
                <a:latin typeface="Arial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849624"/>
            <a:ext cx="4297680" cy="292608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400" b="1">
                <a:solidFill>
                  <a:srgbClr val="1E1F37"/>
                </a:solidFill>
                <a:latin typeface="Arial"/>
              </a:rPr>
              <a:t>Open the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07992"/>
            <a:ext cx="32004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300" b="1">
                <a:solidFill>
                  <a:srgbClr val="F25F14"/>
                </a:solidFill>
                <a:latin typeface="Arial"/>
              </a:rPr>
              <a:t>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4297680" cy="292608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400" b="1">
                <a:solidFill>
                  <a:srgbClr val="1E1F37"/>
                </a:solidFill>
                <a:latin typeface="Arial"/>
              </a:rPr>
              <a:t>Click AI Next Topic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1804924"/>
            <a:ext cx="3474720" cy="3046988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lang="en-US" sz="1900" b="1" dirty="0">
                <a:solidFill>
                  <a:srgbClr val="1E1F37"/>
                </a:solidFill>
                <a:latin typeface="Arial"/>
              </a:rPr>
              <a:t>PROJECT LINK</a:t>
            </a:r>
          </a:p>
          <a:p>
            <a:pPr algn="ctr"/>
            <a:endParaRPr lang="en-US" sz="1900" b="1" dirty="0">
              <a:solidFill>
                <a:srgbClr val="1E1F37"/>
              </a:solidFill>
              <a:latin typeface="Arial"/>
            </a:endParaRPr>
          </a:p>
          <a:p>
            <a:pPr algn="ctr"/>
            <a:endParaRPr lang="en-US" sz="1900" b="1" dirty="0">
              <a:solidFill>
                <a:srgbClr val="1E1F37"/>
              </a:solidFill>
              <a:latin typeface="Arial"/>
            </a:endParaRPr>
          </a:p>
          <a:p>
            <a:pPr algn="ctr"/>
            <a:r>
              <a:rPr lang="en-US" sz="2000" dirty="0">
                <a:solidFill>
                  <a:schemeClr val="accent6">
                    <a:lumMod val="75000"/>
                  </a:schemeClr>
                </a:solidFill>
                <a:hlinkClick r:id="rId2"/>
              </a:rPr>
              <a:t>https://ai-tutor-ei2dq9mh7glq4eekux2ngf.streamlit.app/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endParaRPr lang="en-US" sz="1900" b="1" dirty="0">
              <a:solidFill>
                <a:srgbClr val="1E1F37"/>
              </a:solidFill>
              <a:latin typeface="Arial"/>
            </a:endParaRPr>
          </a:p>
          <a:p>
            <a:pPr algn="ctr"/>
            <a:endParaRPr lang="en-US" sz="1900" b="1" dirty="0">
              <a:solidFill>
                <a:srgbClr val="1E1F37"/>
              </a:solidFill>
              <a:latin typeface="Arial"/>
            </a:endParaRPr>
          </a:p>
          <a:p>
            <a:pPr algn="ctr"/>
            <a:endParaRPr lang="en-US" sz="1900" b="1" dirty="0">
              <a:solidFill>
                <a:srgbClr val="1E1F37"/>
              </a:solidFill>
              <a:latin typeface="Arial"/>
            </a:endParaRPr>
          </a:p>
          <a:p>
            <a:pPr algn="ctr"/>
            <a:endParaRPr sz="1900" b="1" dirty="0">
              <a:solidFill>
                <a:srgbClr val="1E1F37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800" b="1">
                <a:solidFill>
                  <a:srgbClr val="5C5C5C"/>
                </a:solidFill>
                <a:latin typeface="Arial"/>
              </a:rPr>
              <a:t>PERSONAL AI TUTOR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473952"/>
            <a:ext cx="32004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r"/>
            <a:r>
              <a:rPr sz="800" b="0">
                <a:solidFill>
                  <a:srgbClr val="5C5C5C"/>
                </a:solidFill>
                <a:latin typeface="Arial"/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31000"/>
            <a:ext cx="12191695" cy="127000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4114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200" b="1">
                <a:solidFill>
                  <a:srgbClr val="F25F14"/>
                </a:solidFill>
                <a:latin typeface="Arial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9966960" cy="43891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2600" b="1">
                <a:solidFill>
                  <a:srgbClr val="1E1F37"/>
                </a:solidFill>
                <a:latin typeface="Arial"/>
              </a:rPr>
              <a:t>AI Component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932688"/>
            <a:ext cx="10844784" cy="0"/>
          </a:xfrm>
          <a:prstGeom prst="line">
            <a:avLst/>
          </a:prstGeom>
          <a:ln w="25400">
            <a:solidFill>
              <a:srgbClr val="F2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234440"/>
            <a:ext cx="10515600" cy="4114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50" b="1">
                <a:solidFill>
                  <a:srgbClr val="1E1F37"/>
                </a:solidFill>
                <a:latin typeface="Arial"/>
              </a:rPr>
              <a:t>The AI feature recommends the next topic from recent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3154680" cy="315468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64008" cy="3154680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75688"/>
            <a:ext cx="269748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2697480" cy="23317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• Subject
• Current topic
• Difficulty
• Latest quiz 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848" y="1874519"/>
            <a:ext cx="3154680" cy="315468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98848" y="1874519"/>
            <a:ext cx="64008" cy="3154680"/>
          </a:xfrm>
          <a:prstGeom prst="rect">
            <a:avLst/>
          </a:prstGeom>
          <a:solidFill>
            <a:srgbClr val="F2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2075688"/>
            <a:ext cx="269748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AI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560320"/>
            <a:ext cx="2697480" cy="23317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These values are placed into a concise tutor prompt.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0456" y="1874519"/>
            <a:ext cx="3154680" cy="315468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0456" y="1874519"/>
            <a:ext cx="64008" cy="3154680"/>
          </a:xfrm>
          <a:prstGeom prst="rect">
            <a:avLst/>
          </a:prstGeom>
          <a:solidFill>
            <a:srgbClr val="37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49056" y="2075688"/>
            <a:ext cx="269748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2560320"/>
            <a:ext cx="2697480" cy="23317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Next Topic: [topic]
Why: [one short sentence]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40680"/>
            <a:ext cx="10332720" cy="36576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050" b="1">
                <a:solidFill>
                  <a:srgbClr val="1E1F37"/>
                </a:solidFill>
                <a:latin typeface="Arial"/>
              </a:rPr>
              <a:t>Example: the recommendation keeps the student's next practice focused instead of choosing randomly.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800" b="1">
                <a:solidFill>
                  <a:srgbClr val="5C5C5C"/>
                </a:solidFill>
                <a:latin typeface="Arial"/>
              </a:rPr>
              <a:t>PERSONAL AI TUTOR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73952"/>
            <a:ext cx="32004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r"/>
            <a:r>
              <a:rPr sz="800" b="0">
                <a:solidFill>
                  <a:srgbClr val="5C5C5C"/>
                </a:solidFill>
                <a:latin typeface="Arial"/>
              </a:rPr>
              <a:t>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50195" y="330200"/>
            <a:ext cx="1270000" cy="431800"/>
          </a:xfrm>
          <a:prstGeom prst="roundRect">
            <a:avLst/>
          </a:prstGeom>
          <a:solidFill>
            <a:srgbClr val="EBE8FF"/>
          </a:solidFill>
          <a:ln>
            <a:solidFill>
              <a:srgbClr val="D2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4B4196"/>
                </a:solidFill>
                <a:latin typeface="Arial"/>
              </a:rPr>
              <a:t>AI • Tutor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4114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200" b="1">
                <a:solidFill>
                  <a:srgbClr val="F25F14"/>
                </a:solidFill>
                <a:latin typeface="Arial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9966960" cy="43891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2600" b="1">
                <a:solidFill>
                  <a:srgbClr val="1E1F37"/>
                </a:solidFill>
                <a:latin typeface="Arial"/>
              </a:rPr>
              <a:t>Challenges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932688"/>
            <a:ext cx="10844784" cy="0"/>
          </a:xfrm>
          <a:prstGeom prst="line">
            <a:avLst/>
          </a:prstGeom>
          <a:ln w="25400">
            <a:solidFill>
              <a:srgbClr val="F2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417320"/>
            <a:ext cx="3429000" cy="352044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64008" cy="3520440"/>
          </a:xfrm>
          <a:prstGeom prst="rect">
            <a:avLst/>
          </a:prstGeom>
          <a:solidFill>
            <a:srgbClr val="F2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618488"/>
            <a:ext cx="297180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API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2971800" cy="26974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050" b="0">
                <a:solidFill>
                  <a:srgbClr val="5C5C5C"/>
                </a:solidFill>
                <a:latin typeface="Arial"/>
              </a:rPr>
              <a:t>Connecting the AI feature and handling slow responses required careful error handling.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417320"/>
            <a:ext cx="3429000" cy="352044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8" y="1417320"/>
            <a:ext cx="64008" cy="3520440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8" y="1618488"/>
            <a:ext cx="297180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Data &amp; session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103120"/>
            <a:ext cx="2971800" cy="26974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050" b="0">
                <a:solidFill>
                  <a:srgbClr val="5C5C5C"/>
                </a:solidFill>
                <a:latin typeface="Arial"/>
              </a:rPr>
              <a:t>The selected topic and quiz results had to be available when the dashboard requested a recommendation.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5" y="1417320"/>
            <a:ext cx="3429000" cy="352044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37575" y="1417320"/>
            <a:ext cx="64008" cy="3520440"/>
          </a:xfrm>
          <a:prstGeom prst="rect">
            <a:avLst/>
          </a:prstGeom>
          <a:solidFill>
            <a:srgbClr val="37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5" y="1618488"/>
            <a:ext cx="297180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Keeping AI output useful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2103120"/>
            <a:ext cx="2971800" cy="26974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050" b="0">
                <a:solidFill>
                  <a:srgbClr val="5C5C5C"/>
                </a:solidFill>
                <a:latin typeface="Arial"/>
              </a:rPr>
              <a:t>The recommendation needed to be short and actionable instead of a long response.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03520"/>
            <a:ext cx="1325880" cy="25603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300" b="1">
                <a:solidFill>
                  <a:srgbClr val="F25F14"/>
                </a:solidFill>
                <a:latin typeface="Arial"/>
              </a:rPr>
              <a:t>What helped: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257800"/>
            <a:ext cx="7498079" cy="36576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700" b="1">
                <a:solidFill>
                  <a:srgbClr val="1E1F37"/>
                </a:solidFill>
                <a:latin typeface="Arial"/>
              </a:rPr>
              <a:t>Clear prompts + simple data flow + timeout/error handling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800" b="1">
                <a:solidFill>
                  <a:srgbClr val="5C5C5C"/>
                </a:solidFill>
                <a:latin typeface="Arial"/>
              </a:rPr>
              <a:t>PERSONAL AI TUTOR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73952"/>
            <a:ext cx="32004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r"/>
            <a:r>
              <a:rPr sz="800" b="0">
                <a:solidFill>
                  <a:srgbClr val="5C5C5C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391492" cy="70368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4114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200" b="1">
                <a:solidFill>
                  <a:srgbClr val="F25F14"/>
                </a:solidFill>
                <a:latin typeface="Arial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9966960" cy="43891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2600" b="1">
                <a:solidFill>
                  <a:srgbClr val="1E1F37"/>
                </a:solidFill>
                <a:latin typeface="Arial"/>
              </a:rPr>
              <a:t>My Role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932688"/>
            <a:ext cx="10844784" cy="0"/>
          </a:xfrm>
          <a:prstGeom prst="line">
            <a:avLst/>
          </a:prstGeom>
          <a:ln w="25400">
            <a:solidFill>
              <a:srgbClr val="F2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255068"/>
            <a:ext cx="4572000" cy="461665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lang="en-US" sz="2500" b="1" dirty="0">
                <a:solidFill>
                  <a:srgbClr val="1E1F37"/>
                </a:solidFill>
                <a:latin typeface="Arial"/>
              </a:rPr>
              <a:t>As a </a:t>
            </a:r>
            <a:r>
              <a:rPr sz="2500" b="1" dirty="0">
                <a:solidFill>
                  <a:srgbClr val="1E1F37"/>
                </a:solidFill>
                <a:latin typeface="Arial"/>
              </a:rPr>
              <a:t>Team Leader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457200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Arial"/>
              </a:rPr>
              <a:t>Personal contribution to the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31720"/>
            <a:ext cx="5166360" cy="114300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64008" cy="1143000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532888"/>
            <a:ext cx="470916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4709160" cy="32004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50" b="0" dirty="0">
                <a:solidFill>
                  <a:srgbClr val="5C5C5C"/>
                </a:solidFill>
                <a:latin typeface="Arial"/>
              </a:rPr>
              <a:t>Worked on the Streamlit dashboard, metrics and progress sections.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03320"/>
            <a:ext cx="5166360" cy="114300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3703320"/>
            <a:ext cx="64008" cy="1143000"/>
          </a:xfrm>
          <a:prstGeom prst="rect">
            <a:avLst/>
          </a:prstGeom>
          <a:solidFill>
            <a:srgbClr val="F2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904487"/>
            <a:ext cx="470916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AI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389120"/>
            <a:ext cx="4709160" cy="32004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50" b="0">
                <a:solidFill>
                  <a:srgbClr val="5C5C5C"/>
                </a:solidFill>
                <a:latin typeface="Arial"/>
              </a:rPr>
              <a:t>Implemented the next-topic recommendation flow and connected it to the dashboard.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331720"/>
            <a:ext cx="4983480" cy="114300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2331720"/>
            <a:ext cx="64008" cy="1143000"/>
          </a:xfrm>
          <a:prstGeom prst="rect">
            <a:avLst/>
          </a:prstGeom>
          <a:solidFill>
            <a:srgbClr val="37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2532888"/>
            <a:ext cx="452628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Data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17520"/>
            <a:ext cx="4526280" cy="32004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Worked with Pandas and progress.csv for quiz statistics.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4983480" cy="114300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3703320"/>
            <a:ext cx="64008" cy="1143000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3904487"/>
            <a:ext cx="452628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Testing &amp; debugging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389120"/>
            <a:ext cx="4526280" cy="32004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50" b="0">
                <a:solidFill>
                  <a:srgbClr val="5C5C5C"/>
                </a:solidFill>
                <a:latin typeface="Arial"/>
              </a:rPr>
              <a:t>Fixed integration, indentation and API/error-handling issues.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800" b="1">
                <a:solidFill>
                  <a:srgbClr val="5C5C5C"/>
                </a:solidFill>
                <a:latin typeface="Arial"/>
              </a:rPr>
              <a:t>PERSONAL AI TUTOR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32004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r"/>
            <a:r>
              <a:rPr sz="800" b="0">
                <a:solidFill>
                  <a:srgbClr val="5C5C5C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4114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200" b="1">
                <a:solidFill>
                  <a:srgbClr val="F25F14"/>
                </a:solidFill>
                <a:latin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9966960" cy="43891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2600" b="1">
                <a:solidFill>
                  <a:srgbClr val="1E1F37"/>
                </a:solidFill>
                <a:latin typeface="Arial"/>
              </a:rPr>
              <a:t>Future Improvements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932688"/>
            <a:ext cx="10844784" cy="0"/>
          </a:xfrm>
          <a:prstGeom prst="line">
            <a:avLst/>
          </a:prstGeom>
          <a:ln w="25400">
            <a:solidFill>
              <a:srgbClr val="F2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417320"/>
            <a:ext cx="3429000" cy="352044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64008" cy="3520440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618488"/>
            <a:ext cx="297180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Adaptive difficulty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2971800" cy="26974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50" b="0">
                <a:solidFill>
                  <a:srgbClr val="5C5C5C"/>
                </a:solidFill>
                <a:latin typeface="Arial"/>
              </a:rPr>
              <a:t>Automatically change quiz difficulty using performance trends.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417320"/>
            <a:ext cx="3429000" cy="352044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8" y="1417320"/>
            <a:ext cx="64008" cy="3520440"/>
          </a:xfrm>
          <a:prstGeom prst="rect">
            <a:avLst/>
          </a:prstGeom>
          <a:solidFill>
            <a:srgbClr val="F2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8" y="1618488"/>
            <a:ext cx="297180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Better learning paths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103120"/>
            <a:ext cx="2971800" cy="26974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50" b="0">
                <a:solidFill>
                  <a:srgbClr val="5C5C5C"/>
                </a:solidFill>
                <a:latin typeface="Arial"/>
              </a:rPr>
              <a:t>Use more history to recommend a sequence of topics, not just one topic.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5" y="1417320"/>
            <a:ext cx="3429000" cy="352044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37575" y="1417320"/>
            <a:ext cx="64008" cy="3520440"/>
          </a:xfrm>
          <a:prstGeom prst="rect">
            <a:avLst/>
          </a:prstGeom>
          <a:solidFill>
            <a:srgbClr val="37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5" y="1618488"/>
            <a:ext cx="297180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Richer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2103120"/>
            <a:ext cx="2971800" cy="26974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50" b="0">
                <a:solidFill>
                  <a:srgbClr val="5C5C5C"/>
                </a:solidFill>
                <a:latin typeface="Arial"/>
              </a:rPr>
              <a:t>Add streaks, mastery charts and more detailed learner insights.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21808"/>
            <a:ext cx="1371600" cy="25603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300" b="1">
                <a:solidFill>
                  <a:srgbClr val="F25F14"/>
                </a:solidFill>
                <a:latin typeface="Arial"/>
              </a:rPr>
              <a:t>Future goal: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266944"/>
            <a:ext cx="9144000" cy="384048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50" b="1">
                <a:solidFill>
                  <a:srgbClr val="1E1F37"/>
                </a:solidFill>
                <a:latin typeface="Arial"/>
              </a:rPr>
              <a:t>Move from a single recommendation to a more complete personalized learning journey.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800" b="1">
                <a:solidFill>
                  <a:srgbClr val="5C5C5C"/>
                </a:solidFill>
                <a:latin typeface="Arial"/>
              </a:rPr>
              <a:t>PERSONAL AI TUTOR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73952"/>
            <a:ext cx="32004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r"/>
            <a:r>
              <a:rPr sz="800" b="0">
                <a:solidFill>
                  <a:srgbClr val="5C5C5C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83668" y="-209998"/>
            <a:ext cx="12191695" cy="70679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4114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200" b="1">
                <a:solidFill>
                  <a:srgbClr val="F25F14"/>
                </a:solidFill>
                <a:latin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9966960" cy="43891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2600" b="1">
                <a:solidFill>
                  <a:srgbClr val="1E1F37"/>
                </a:solidFill>
                <a:latin typeface="Arial"/>
              </a:rPr>
              <a:t>GitHub / Project Link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932688"/>
            <a:ext cx="10844784" cy="0"/>
          </a:xfrm>
          <a:prstGeom prst="line">
            <a:avLst/>
          </a:prstGeom>
          <a:ln w="25400">
            <a:solidFill>
              <a:srgbClr val="F2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261869"/>
            <a:ext cx="2926080" cy="63094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lang="en-US" b="1" dirty="0">
                <a:solidFill>
                  <a:srgbClr val="1E1F37"/>
                </a:solidFill>
                <a:latin typeface="Arial"/>
              </a:rPr>
              <a:t>GITHUB  LINK</a:t>
            </a:r>
            <a:endParaRPr lang="en-US" sz="1800" b="1" dirty="0">
              <a:solidFill>
                <a:srgbClr val="1E1F37"/>
              </a:solidFill>
              <a:latin typeface="Arial"/>
            </a:endParaRPr>
          </a:p>
          <a:p>
            <a:pPr algn="l"/>
            <a:endParaRPr sz="1800" b="1" dirty="0">
              <a:solidFill>
                <a:srgbClr val="1E1F37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7240" y="1837630"/>
            <a:ext cx="10469880" cy="960120"/>
          </a:xfrm>
          <a:prstGeom prst="roundRect">
            <a:avLst/>
          </a:prstGeom>
          <a:solidFill>
            <a:srgbClr val="F8F8F7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  <a:hlinkClick r:id="rId3"/>
              </a:rPr>
              <a:t>https://github.com/Sneha4-web/AI-Tutor.git</a:t>
            </a:r>
            <a:endParaRPr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207062" y="4572000"/>
            <a:ext cx="110674" cy="94593"/>
          </a:xfrm>
          <a:prstGeom prst="rect">
            <a:avLst/>
          </a:prstGeom>
          <a:solidFill>
            <a:srgbClr val="1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683496" y="4572000"/>
            <a:ext cx="128016" cy="128016"/>
          </a:xfrm>
          <a:prstGeom prst="rect">
            <a:avLst/>
          </a:prstGeom>
          <a:solidFill>
            <a:srgbClr val="1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177272" y="4572000"/>
            <a:ext cx="128016" cy="128016"/>
          </a:xfrm>
          <a:prstGeom prst="rect">
            <a:avLst/>
          </a:prstGeom>
          <a:solidFill>
            <a:srgbClr val="1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354312" y="4736592"/>
            <a:ext cx="128016" cy="128016"/>
          </a:xfrm>
          <a:prstGeom prst="rect">
            <a:avLst/>
          </a:prstGeom>
          <a:solidFill>
            <a:srgbClr val="1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848088" y="4736592"/>
            <a:ext cx="128016" cy="128016"/>
          </a:xfrm>
          <a:prstGeom prst="rect">
            <a:avLst/>
          </a:prstGeom>
          <a:solidFill>
            <a:srgbClr val="1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89720" y="5065776"/>
            <a:ext cx="128016" cy="128016"/>
          </a:xfrm>
          <a:prstGeom prst="rect">
            <a:avLst/>
          </a:prstGeom>
          <a:solidFill>
            <a:srgbClr val="1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683496" y="5065776"/>
            <a:ext cx="128016" cy="128016"/>
          </a:xfrm>
          <a:prstGeom prst="rect">
            <a:avLst/>
          </a:prstGeom>
          <a:solidFill>
            <a:srgbClr val="1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177272" y="5065776"/>
            <a:ext cx="128016" cy="128016"/>
          </a:xfrm>
          <a:prstGeom prst="rect">
            <a:avLst/>
          </a:prstGeom>
          <a:solidFill>
            <a:srgbClr val="1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54312" y="5230368"/>
            <a:ext cx="128016" cy="128016"/>
          </a:xfrm>
          <a:prstGeom prst="rect">
            <a:avLst/>
          </a:prstGeom>
          <a:solidFill>
            <a:srgbClr val="1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848088" y="5230368"/>
            <a:ext cx="128016" cy="128016"/>
          </a:xfrm>
          <a:prstGeom prst="rect">
            <a:avLst/>
          </a:prstGeom>
          <a:solidFill>
            <a:srgbClr val="1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89720" y="5559552"/>
            <a:ext cx="128016" cy="128016"/>
          </a:xfrm>
          <a:prstGeom prst="rect">
            <a:avLst/>
          </a:prstGeom>
          <a:solidFill>
            <a:srgbClr val="1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683496" y="5559552"/>
            <a:ext cx="128016" cy="128016"/>
          </a:xfrm>
          <a:prstGeom prst="rect">
            <a:avLst/>
          </a:prstGeom>
          <a:solidFill>
            <a:srgbClr val="1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177272" y="5559552"/>
            <a:ext cx="128016" cy="128016"/>
          </a:xfrm>
          <a:prstGeom prst="rect">
            <a:avLst/>
          </a:prstGeom>
          <a:solidFill>
            <a:srgbClr val="1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800" b="1">
                <a:solidFill>
                  <a:srgbClr val="5C5C5C"/>
                </a:solidFill>
                <a:latin typeface="Arial"/>
              </a:rPr>
              <a:t>PERSONAL AI TUTOR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32004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r"/>
            <a:r>
              <a:rPr sz="800" b="0">
                <a:solidFill>
                  <a:srgbClr val="5C5C5C"/>
                </a:solidFill>
                <a:latin typeface="Arial"/>
              </a:rPr>
              <a:t>11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2EB5E7F-1944-4A86-8D30-FA802FD89F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9826" y="3853589"/>
            <a:ext cx="1387968" cy="191658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D3FA372-7156-4FFD-999F-D244C5639614}"/>
              </a:ext>
            </a:extLst>
          </p:cNvPr>
          <p:cNvSpPr txBox="1"/>
          <p:nvPr/>
        </p:nvSpPr>
        <p:spPr>
          <a:xfrm>
            <a:off x="777240" y="4458673"/>
            <a:ext cx="110185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</a:t>
            </a:r>
            <a:r>
              <a:rPr lang="en-US" sz="2400" b="1"/>
              <a:t>can </a:t>
            </a:r>
            <a:r>
              <a:rPr lang="en-US" sz="2400" b="1" dirty="0"/>
              <a:t>this QR code to view my </a:t>
            </a:r>
            <a:r>
              <a:rPr lang="en-US" sz="2400" b="1" dirty="0" err="1"/>
              <a:t>Github</a:t>
            </a:r>
            <a:r>
              <a:rPr lang="en-US" sz="2400" b="1" dirty="0"/>
              <a:t> repository  </a:t>
            </a:r>
            <a:r>
              <a:rPr lang="en-US" sz="2400" b="1" dirty="0">
                <a:sym typeface="Wingdings" panose="05000000000000000000" pitchFamily="2" charset="2"/>
              </a:rPr>
              <a:t></a:t>
            </a:r>
            <a:endParaRPr lang="en-US" sz="24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5029200" cy="6400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240280"/>
            <a:ext cx="4572000" cy="384048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2200" b="1">
                <a:solidFill>
                  <a:srgbClr val="DCE1F0"/>
                </a:solidFill>
                <a:latin typeface="Arial"/>
              </a:rPr>
              <a:t>Personal AI Tutor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96112" y="2834640"/>
            <a:ext cx="4133088" cy="0"/>
          </a:xfrm>
          <a:prstGeom prst="line">
            <a:avLst/>
          </a:prstGeom>
          <a:ln w="38100">
            <a:solidFill>
              <a:srgbClr val="F2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96112" y="3246120"/>
            <a:ext cx="3200400" cy="5029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3000" b="1">
                <a:solidFill>
                  <a:srgbClr val="F25F14"/>
                </a:solidFill>
                <a:latin typeface="Arial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251960"/>
            <a:ext cx="4023360" cy="292608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Sneha  •  Team Leader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029200"/>
            <a:ext cx="365760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200" b="0">
                <a:solidFill>
                  <a:srgbClr val="BEC6D7"/>
                </a:solidFill>
                <a:latin typeface="Arial"/>
              </a:rPr>
              <a:t>Roll No.: 25267531</a:t>
            </a:r>
          </a:p>
        </p:txBody>
      </p:sp>
      <p:sp>
        <p:nvSpPr>
          <p:cNvPr id="10" name="Oval 9"/>
          <p:cNvSpPr/>
          <p:nvPr/>
        </p:nvSpPr>
        <p:spPr>
          <a:xfrm>
            <a:off x="8686800" y="1325880"/>
            <a:ext cx="914400" cy="914400"/>
          </a:xfrm>
          <a:prstGeom prst="ellipse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875520" y="2468880"/>
            <a:ext cx="594360" cy="594360"/>
          </a:xfrm>
          <a:prstGeom prst="ellipse">
            <a:avLst/>
          </a:prstGeom>
          <a:solidFill>
            <a:srgbClr val="F2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052560" y="3886200"/>
            <a:ext cx="1325880" cy="1325880"/>
          </a:xfrm>
          <a:prstGeom prst="ellipse">
            <a:avLst/>
          </a:prstGeom>
          <a:solidFill>
            <a:srgbClr val="37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469880" y="5166360"/>
            <a:ext cx="502920" cy="502920"/>
          </a:xfrm>
          <a:prstGeom prst="ellipse">
            <a:avLst/>
          </a:prstGeom>
          <a:solidFill>
            <a:srgbClr val="F2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018520" y="6473952"/>
            <a:ext cx="32004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r"/>
            <a:r>
              <a:rPr sz="800" b="0">
                <a:solidFill>
                  <a:srgbClr val="A0AABE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687</Words>
  <Application>Microsoft Office PowerPoint</Application>
  <PresentationFormat>Widescreen</PresentationFormat>
  <Paragraphs>165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SNEHA</dc:creator>
  <cp:keywords/>
  <dc:description>generated using python-pptx</dc:description>
  <cp:lastModifiedBy>dell</cp:lastModifiedBy>
  <cp:revision>4</cp:revision>
  <dcterms:created xsi:type="dcterms:W3CDTF">2013-01-27T09:14:16Z</dcterms:created>
  <dcterms:modified xsi:type="dcterms:W3CDTF">2026-09-23T06:57:13Z</dcterms:modified>
  <cp:category/>
</cp:coreProperties>
</file>